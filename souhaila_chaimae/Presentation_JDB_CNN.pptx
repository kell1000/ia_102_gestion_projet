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77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3.jp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IMG_9930_cro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1055" y="0"/>
            <a:ext cx="512064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71055" y="0"/>
            <a:ext cx="1005840" cy="6858000"/>
          </a:xfrm>
          <a:prstGeom prst="rect">
            <a:avLst/>
          </a:prstGeom>
          <a:solidFill>
            <a:srgbClr val="0B3D24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45" y="792785"/>
            <a:ext cx="608990" cy="6089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828800"/>
            <a:ext cx="6126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Intelligente de Détection de Maladies des Plantes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35204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(CNN) • Diagnostic automatique • Recommandation de traitement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822960" y="4434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15C3E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051560" y="4572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Chaimaa Abou-Elmir &amp; Souhaila Fatih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Nouaceur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3504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automatiser le diagnostic des maladies des plantes 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3818" cy="3017520"/>
          </a:xfrm>
          <a:prstGeom prst="roundRect">
            <a:avLst>
              <a:gd name="adj" fmla="val 2424"/>
            </a:avLst>
          </a:prstGeom>
          <a:solidFill>
            <a:srgbClr val="EAF5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4789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661" y="208483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966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Pertes agricoles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28751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maladies foliaires (mildiou, alternariose...) détruisent une part importante des récoltes chaque année.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938" y="1691640"/>
            <a:ext cx="3423818" cy="3017520"/>
          </a:xfrm>
          <a:prstGeom prst="roundRect">
            <a:avLst>
              <a:gd name="adj" fmla="val 2424"/>
            </a:avLst>
          </a:prstGeom>
          <a:solidFill>
            <a:srgbClr val="EAF5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520" y="2084832"/>
            <a:ext cx="676656" cy="676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2538" y="3063240"/>
            <a:ext cx="2966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manuel lent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58258" y="3611880"/>
            <a:ext cx="28751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L'identification visuelle par un agronome est coûteuse, subjective et pas toujours disponible à temps.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7797" y="1691640"/>
            <a:ext cx="3423818" cy="3017520"/>
          </a:xfrm>
          <a:prstGeom prst="roundRect">
            <a:avLst>
              <a:gd name="adj" fmla="val 2424"/>
            </a:avLst>
          </a:prstGeom>
          <a:solidFill>
            <a:srgbClr val="EAF5EC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82506" y="19659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1378" y="2084832"/>
            <a:ext cx="676656" cy="676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6397" y="3063240"/>
            <a:ext cx="29666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tardif ou inadapté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02117" y="3611880"/>
            <a:ext cx="28751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mauvais diagnostic entraîne un traitement inefficace, une perte de temps et de produits.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0292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B5E3A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5166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60" y="52317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074920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un outil basé sur le Deep Learning capable d'identifier la maladie à partir d'une simple photo, et de proposer immédiatement le traitement adapté.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d'ensemble de l'application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téléchargement de l'image jusqu'à la recommandation du traitement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22144" cy="3291840"/>
          </a:xfrm>
          <a:prstGeom prst="roundRect">
            <a:avLst>
              <a:gd name="adj" fmla="val 3625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9672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264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15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2064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importe une photo de la feuille via Streamlit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62224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436544" y="1920240"/>
            <a:ext cx="2522144" cy="3291840"/>
          </a:xfrm>
          <a:prstGeom prst="roundRect">
            <a:avLst>
              <a:gd name="adj" fmla="val 3625"/>
            </a:avLst>
          </a:prstGeom>
          <a:solidFill>
            <a:srgbClr val="3C8C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6136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728" y="240487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9424" y="3246120"/>
            <a:ext cx="215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Analyse CNN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65144" y="3703320"/>
            <a:ext cx="2064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entraîné (TensorFlow) classe l'image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58688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33008" y="1920240"/>
            <a:ext cx="2522144" cy="3291840"/>
          </a:xfrm>
          <a:prstGeom prst="roundRect">
            <a:avLst>
              <a:gd name="adj" fmla="val 3625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82600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191" y="240487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5888" y="3246120"/>
            <a:ext cx="215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Résultat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61608" y="3703320"/>
            <a:ext cx="2064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détectée + score de confiance (%)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755151" y="32004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9029471" y="1920240"/>
            <a:ext cx="2522144" cy="3291840"/>
          </a:xfrm>
          <a:prstGeom prst="roundRect">
            <a:avLst>
              <a:gd name="adj" fmla="val 3625"/>
            </a:avLst>
          </a:prstGeom>
          <a:solidFill>
            <a:srgbClr val="3C8C5C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79063" y="22402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3655" y="240487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2351" y="3246120"/>
            <a:ext cx="215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Traitement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58071" y="3703320"/>
            <a:ext cx="20649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automatique tirée de la base de données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54864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: Python • TensorFlow / Keras (CNN) • Streamlit (interface) • base de traitements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Technolog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Title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200" dirty="0"/>
          </a:p>
        </p:txBody>
      </p:sp>
      <p:sp>
        <p:nvSpPr>
          <p:cNvPr id="91" name="Text Subtitle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et bibliothèques qui font fonctionner l'application, de l'entraînement du modèle à l'interface utilisateur</a:t>
            </a:r>
            <a:endParaRPr lang="en-US" sz="1400" dirty="0"/>
          </a:p>
        </p:txBody>
      </p:sp>
      <p:sp>
        <p:nvSpPr>
          <p:cNvPr id="2" name="Card0"/>
          <p:cNvSpPr/>
          <p:nvPr/>
        </p:nvSpPr>
        <p:spPr>
          <a:xfrm>
            <a:off x="640080" y="192024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Circle0"/>
          <p:cNvSpPr/>
          <p:nvPr/>
        </p:nvSpPr>
        <p:spPr>
          <a:xfrm>
            <a:off x="2071989" y="208024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600" dirty="0"/>
          </a:p>
        </p:txBody>
      </p:sp>
      <p:sp>
        <p:nvSpPr>
          <p:cNvPr id="4" name="Title0"/>
          <p:cNvSpPr/>
          <p:nvPr/>
        </p:nvSpPr>
        <p:spPr>
          <a:xfrm>
            <a:off x="800080" y="266024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5" name="Desc0"/>
          <p:cNvSpPr/>
          <p:nvPr/>
        </p:nvSpPr>
        <p:spPr>
          <a:xfrm>
            <a:off x="800080" y="301024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: logique métier, scripts et automatisation</a:t>
            </a:r>
            <a:endParaRPr lang="en-US" sz="1000" dirty="0"/>
          </a:p>
        </p:txBody>
      </p:sp>
      <p:sp>
        <p:nvSpPr>
          <p:cNvPr id="6" name="Card1"/>
          <p:cNvSpPr/>
          <p:nvPr/>
        </p:nvSpPr>
        <p:spPr>
          <a:xfrm>
            <a:off x="4383938" y="192024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Circle1"/>
          <p:cNvSpPr/>
          <p:nvPr/>
        </p:nvSpPr>
        <p:spPr>
          <a:xfrm>
            <a:off x="5815847" y="208024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</a:t>
            </a:r>
            <a:endParaRPr lang="en-US" sz="1600" dirty="0"/>
          </a:p>
        </p:txBody>
      </p:sp>
      <p:sp>
        <p:nvSpPr>
          <p:cNvPr id="8" name="Title1"/>
          <p:cNvSpPr/>
          <p:nvPr/>
        </p:nvSpPr>
        <p:spPr>
          <a:xfrm>
            <a:off x="4543938" y="266024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450" dirty="0"/>
          </a:p>
        </p:txBody>
      </p:sp>
      <p:sp>
        <p:nvSpPr>
          <p:cNvPr id="9" name="Desc1"/>
          <p:cNvSpPr/>
          <p:nvPr/>
        </p:nvSpPr>
        <p:spPr>
          <a:xfrm>
            <a:off x="4543938" y="301024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et entraînement du modèle CNN</a:t>
            </a:r>
            <a:endParaRPr lang="en-US" sz="1000" dirty="0"/>
          </a:p>
        </p:txBody>
      </p:sp>
      <p:sp>
        <p:nvSpPr>
          <p:cNvPr id="10" name="Card2"/>
          <p:cNvSpPr/>
          <p:nvPr/>
        </p:nvSpPr>
        <p:spPr>
          <a:xfrm>
            <a:off x="8127796" y="192024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Circle2"/>
          <p:cNvSpPr/>
          <p:nvPr/>
        </p:nvSpPr>
        <p:spPr>
          <a:xfrm>
            <a:off x="9559705" y="208024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600" dirty="0"/>
          </a:p>
        </p:txBody>
      </p:sp>
      <p:sp>
        <p:nvSpPr>
          <p:cNvPr id="12" name="Title2"/>
          <p:cNvSpPr/>
          <p:nvPr/>
        </p:nvSpPr>
        <p:spPr>
          <a:xfrm>
            <a:off x="8287796" y="266024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13" name="Desc2"/>
          <p:cNvSpPr/>
          <p:nvPr/>
        </p:nvSpPr>
        <p:spPr>
          <a:xfrm>
            <a:off x="8287796" y="301024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interactive pour l'utilisateur final</a:t>
            </a:r>
            <a:endParaRPr lang="en-US" sz="1000" dirty="0"/>
          </a:p>
        </p:txBody>
      </p:sp>
      <p:sp>
        <p:nvSpPr>
          <p:cNvPr id="14" name="Card3"/>
          <p:cNvSpPr/>
          <p:nvPr/>
        </p:nvSpPr>
        <p:spPr>
          <a:xfrm>
            <a:off x="640080" y="369456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Circle3"/>
          <p:cNvSpPr/>
          <p:nvPr/>
        </p:nvSpPr>
        <p:spPr>
          <a:xfrm>
            <a:off x="2071989" y="385456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600" dirty="0"/>
          </a:p>
        </p:txBody>
      </p:sp>
      <p:sp>
        <p:nvSpPr>
          <p:cNvPr id="16" name="Title3"/>
          <p:cNvSpPr/>
          <p:nvPr/>
        </p:nvSpPr>
        <p:spPr>
          <a:xfrm>
            <a:off x="800080" y="443456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450" dirty="0"/>
          </a:p>
        </p:txBody>
      </p:sp>
      <p:sp>
        <p:nvSpPr>
          <p:cNvPr id="17" name="Desc3"/>
          <p:cNvSpPr/>
          <p:nvPr/>
        </p:nvSpPr>
        <p:spPr>
          <a:xfrm>
            <a:off x="800080" y="478456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des images de feuilles pour l'entraînement</a:t>
            </a:r>
            <a:endParaRPr lang="en-US" sz="1000" dirty="0"/>
          </a:p>
        </p:txBody>
      </p:sp>
      <p:sp>
        <p:nvSpPr>
          <p:cNvPr id="18" name="Card4"/>
          <p:cNvSpPr/>
          <p:nvPr/>
        </p:nvSpPr>
        <p:spPr>
          <a:xfrm>
            <a:off x="4383938" y="369456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Circle4"/>
          <p:cNvSpPr/>
          <p:nvPr/>
        </p:nvSpPr>
        <p:spPr>
          <a:xfrm>
            <a:off x="5815847" y="385456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1600" dirty="0"/>
          </a:p>
        </p:txBody>
      </p:sp>
      <p:sp>
        <p:nvSpPr>
          <p:cNvPr id="20" name="Title4"/>
          <p:cNvSpPr/>
          <p:nvPr/>
        </p:nvSpPr>
        <p:spPr>
          <a:xfrm>
            <a:off x="4543938" y="443456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50" dirty="0"/>
          </a:p>
        </p:txBody>
      </p:sp>
      <p:sp>
        <p:nvSpPr>
          <p:cNvPr id="21" name="Desc4"/>
          <p:cNvSpPr/>
          <p:nvPr/>
        </p:nvSpPr>
        <p:spPr>
          <a:xfrm>
            <a:off x="4543938" y="478456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des tableaux de pixels et calculs numériques</a:t>
            </a:r>
            <a:endParaRPr lang="en-US" sz="1000" dirty="0"/>
          </a:p>
        </p:txBody>
      </p:sp>
      <p:sp>
        <p:nvSpPr>
          <p:cNvPr id="22" name="Card5"/>
          <p:cNvSpPr/>
          <p:nvPr/>
        </p:nvSpPr>
        <p:spPr>
          <a:xfrm>
            <a:off x="8127796" y="3694560"/>
            <a:ext cx="3423818" cy="1500000"/>
          </a:xfrm>
          <a:prstGeom prst="roundRect">
            <a:avLst>
              <a:gd name="adj" fmla="val 5000"/>
            </a:avLst>
          </a:prstGeom>
          <a:solidFill>
            <a:srgbClr val="1B5E3A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Circle5"/>
          <p:cNvSpPr/>
          <p:nvPr/>
        </p:nvSpPr>
        <p:spPr>
          <a:xfrm>
            <a:off x="9559705" y="3854560"/>
            <a:ext cx="560000" cy="56000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600" dirty="0"/>
          </a:p>
        </p:txBody>
      </p:sp>
      <p:sp>
        <p:nvSpPr>
          <p:cNvPr id="24" name="Title5"/>
          <p:cNvSpPr/>
          <p:nvPr/>
        </p:nvSpPr>
        <p:spPr>
          <a:xfrm>
            <a:off x="8287796" y="4434560"/>
            <a:ext cx="3103818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(PIL)</a:t>
            </a:r>
            <a:endParaRPr lang="en-US" sz="1450" dirty="0"/>
          </a:p>
        </p:txBody>
      </p:sp>
      <p:sp>
        <p:nvSpPr>
          <p:cNvPr id="25" name="Desc5"/>
          <p:cNvSpPr/>
          <p:nvPr/>
        </p:nvSpPr>
        <p:spPr>
          <a:xfrm>
            <a:off x="8287796" y="4784560"/>
            <a:ext cx="310381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Chargement, redimensionnement et prétraitement des images</a:t>
            </a:r>
            <a:endParaRPr lang="en-US" sz="1000" dirty="0"/>
          </a:p>
        </p:txBody>
      </p:sp>
      <p:sp>
        <p:nvSpPr>
          <p:cNvPr id="80" name="Text Caption"/>
          <p:cNvSpPr/>
          <p:nvPr/>
        </p:nvSpPr>
        <p:spPr>
          <a:xfrm>
            <a:off x="640080" y="54864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: pip install tensorflow streamlit pillow numpy</a:t>
            </a:r>
            <a:endParaRPr lang="en-US" sz="1200" dirty="0"/>
          </a:p>
        </p:txBody>
      </p:sp>
      <p:sp>
        <p:nvSpPr>
          <p:cNvPr id="81" name="Text PageNum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  <p:sp>
        <p:nvSpPr>
          <p:cNvPr id="82" name="Text Footer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CNN : comment le modèle « voit » la maladie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023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 spécialisé dans l'analyse d'images.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6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motifs visuels (taches, décolorations, bords nécrosés)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 des caractéristiques, sans règles écrites à la main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finale parmi les catégories de maladies connues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2834640"/>
            <a:ext cx="411480" cy="2103120"/>
          </a:xfrm>
          <a:prstGeom prst="rect">
            <a:avLst/>
          </a:prstGeom>
          <a:solidFill>
            <a:srgbClr val="3C8C5C"/>
          </a:solidFill>
          <a:ln/>
        </p:spPr>
      </p:sp>
      <p:sp>
        <p:nvSpPr>
          <p:cNvPr id="5" name="Text 3"/>
          <p:cNvSpPr/>
          <p:nvPr/>
        </p:nvSpPr>
        <p:spPr>
          <a:xfrm>
            <a:off x="4892040" y="501091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d'entrée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05272" y="2971800"/>
            <a:ext cx="411480" cy="1828800"/>
          </a:xfrm>
          <a:prstGeom prst="rect">
            <a:avLst/>
          </a:prstGeom>
          <a:solidFill>
            <a:srgbClr val="1B5E3A"/>
          </a:solidFill>
          <a:ln/>
        </p:spPr>
      </p:sp>
      <p:sp>
        <p:nvSpPr>
          <p:cNvPr id="7" name="Text 5"/>
          <p:cNvSpPr/>
          <p:nvPr/>
        </p:nvSpPr>
        <p:spPr>
          <a:xfrm>
            <a:off x="5468112" y="4873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81344" y="3090672"/>
            <a:ext cx="411480" cy="1591056"/>
          </a:xfrm>
          <a:prstGeom prst="rect">
            <a:avLst/>
          </a:prstGeom>
          <a:solidFill>
            <a:srgbClr val="215C3E"/>
          </a:solidFill>
          <a:ln/>
        </p:spPr>
      </p:sp>
      <p:sp>
        <p:nvSpPr>
          <p:cNvPr id="9" name="Text 7"/>
          <p:cNvSpPr/>
          <p:nvPr/>
        </p:nvSpPr>
        <p:spPr>
          <a:xfrm>
            <a:off x="6044184" y="475488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57416" y="2971800"/>
            <a:ext cx="411480" cy="1828800"/>
          </a:xfrm>
          <a:prstGeom prst="rect">
            <a:avLst/>
          </a:prstGeom>
          <a:solidFill>
            <a:srgbClr val="1B5E3A"/>
          </a:solidFill>
          <a:ln/>
        </p:spPr>
      </p:sp>
      <p:sp>
        <p:nvSpPr>
          <p:cNvPr id="11" name="Text 9"/>
          <p:cNvSpPr/>
          <p:nvPr/>
        </p:nvSpPr>
        <p:spPr>
          <a:xfrm>
            <a:off x="6620256" y="48737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33488" y="3200400"/>
            <a:ext cx="411480" cy="1371600"/>
          </a:xfrm>
          <a:prstGeom prst="rect">
            <a:avLst/>
          </a:prstGeom>
          <a:solidFill>
            <a:srgbClr val="215C3E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328" y="46451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09560" y="3291840"/>
            <a:ext cx="411480" cy="1188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455371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85632" y="3364992"/>
            <a:ext cx="411480" cy="1042416"/>
          </a:xfrm>
          <a:prstGeom prst="rect">
            <a:avLst/>
          </a:prstGeom>
          <a:solidFill>
            <a:srgbClr val="C0473A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44805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5440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simplifiée du CNN (extraction → classification)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6675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1536192"/>
            <a:ext cx="594360" cy="594360"/>
          </a:xfrm>
          <a:prstGeom prst="ellipse">
            <a:avLst/>
          </a:prstGeom>
          <a:solidFill>
            <a:srgbClr val="EAF5E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187" y="1613459"/>
            <a:ext cx="439826" cy="43982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52160" y="146304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réseau est profond, plus il apprend des motifs complexes : des contours simples (1ère couche) aux symptômes spécifiques d'une maladie (dernières couches).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d'entraînement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 feuilles, organisées par classe, pour apprendre au modèle à reconnaître chaque maladie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965960"/>
            <a:ext cx="822960" cy="822960"/>
          </a:xfrm>
          <a:prstGeom prst="ellipse">
            <a:avLst/>
          </a:prstGeom>
          <a:solidFill>
            <a:srgbClr val="3C8C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21305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71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169164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/home/claude/deck/assets/IMG_9931_cro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10128" y="1801368"/>
            <a:ext cx="1975104" cy="1417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3291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60720" y="169164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deck/assets/IMG_9929_crop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870448" y="1801368"/>
            <a:ext cx="1975104" cy="1417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3291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4124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4124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feuilles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41248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41248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dataset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4124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41248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couleur, redimensionnées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25196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0B3D24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480560"/>
            <a:ext cx="640080" cy="64008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610" y="4563770"/>
            <a:ext cx="473659" cy="47365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70832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requise : 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dataset/train/&lt;classe&gt;/...   et   dataset/val/&lt;classe&gt;/...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sous-dossier porte le nom d'une classe (Healthy, Tomato Early Blight, Tomato Late Blight)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Entraînement du modèle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 — apprentissage du CNN sur les images du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AF5EC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27632"/>
            <a:ext cx="530352" cy="530352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26" y="1696578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63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des images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90195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train/ et val/, redimensionnement, normalisation des pixels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542032"/>
            <a:ext cx="530352" cy="530352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26" y="2610978"/>
            <a:ext cx="392460" cy="392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478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CNN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45920" y="281635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Empilement de couches Conv2D + Pooling + couches denses (Keras / TensorFlow)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3375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EAF5EC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456432"/>
            <a:ext cx="530352" cy="530352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626" y="3525378"/>
            <a:ext cx="392460" cy="392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924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373075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ajuste ses poids sur plusieurs époques pour minimiser l'erreur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2519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370832"/>
            <a:ext cx="530352" cy="530352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626" y="4439778"/>
            <a:ext cx="392460" cy="392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3068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du modèle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645920" y="4645152"/>
            <a:ext cx="9418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entraîné est sauvegardé pour être utilisé par predict.py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32120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1B5E3A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53212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:  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377440" y="5532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train_model.py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&amp; Base de traitements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 associe chaque maladie détectée à un traitement recommandé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3C8C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933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01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40680" y="1892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003" y="1964131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1801368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traitement nécessaire ✅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2834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2" descr="/home/claude/deck/assets/IMG_9931_crop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8680" y="3017520"/>
            <a:ext cx="594360" cy="594360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2944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Early Blight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40680" y="3035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003" y="3107131"/>
            <a:ext cx="405994" cy="4059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72200" y="2944368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Fongicide (chlorothalonil) + retirer les feuilles infectées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8" name="Image 4" descr="/home/claude/deck/assets/IMG_9929_crop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8680" y="4160520"/>
            <a:ext cx="594360" cy="594360"/>
          </a:xfrm>
          <a:prstGeom prst="ellipse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91640" y="4087368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Late Blight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40680" y="41788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003" y="4250131"/>
            <a:ext cx="405994" cy="4059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72200" y="4087368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Fongicide à base de cuivre + éviter l'humidité élevée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640080" y="54864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 Python  treatments{}  consulté automatiquement après chaque prédiction du CNN.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L'interface Streamlit en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— résultat affiché à l'utilisateur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67665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527048"/>
            <a:ext cx="146304" cy="146304"/>
          </a:xfrm>
          <a:prstGeom prst="ellipse">
            <a:avLst/>
          </a:prstGeom>
          <a:solidFill>
            <a:srgbClr val="C0473A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527048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1527048"/>
            <a:ext cx="146304" cy="146304"/>
          </a:xfrm>
          <a:prstGeom prst="ellipse">
            <a:avLst/>
          </a:prstGeom>
          <a:solidFill>
            <a:srgbClr val="3C8C5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6479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 Detector — Dashboard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221992"/>
            <a:ext cx="6217920" cy="1188720"/>
          </a:xfrm>
          <a:prstGeom prst="roundRect">
            <a:avLst>
              <a:gd name="adj" fmla="val 6154"/>
            </a:avLst>
          </a:prstGeom>
          <a:solidFill>
            <a:srgbClr val="EAF5EC"/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235915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410" y="2442362"/>
            <a:ext cx="473659" cy="4736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320040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Glissez-déposez une image de feuille ici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97280" y="3593592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1B5E3A"/>
          </a:solidFill>
          <a:ln/>
        </p:spPr>
      </p:sp>
      <p:pic>
        <p:nvPicPr>
          <p:cNvPr id="14" name="Image 1" descr="/home/claude/deck/assets/IMG_9931_crop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0160" y="3758184"/>
            <a:ext cx="502920" cy="502920"/>
          </a:xfrm>
          <a:prstGeom prst="ellipse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20240" y="3758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C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détectée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1188720" y="437083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343400" y="3593592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D9A441"/>
          </a:solidFill>
          <a:ln/>
        </p:spPr>
      </p:sp>
      <p:sp>
        <p:nvSpPr>
          <p:cNvPr id="18" name="Shape 14"/>
          <p:cNvSpPr/>
          <p:nvPr/>
        </p:nvSpPr>
        <p:spPr>
          <a:xfrm>
            <a:off x="4526280" y="37581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660" y="3823564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6360" y="37581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du modèle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434840" y="437083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94.2 %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1097280" y="5285232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EAF5EC"/>
          </a:solidFill>
          <a:ln/>
        </p:spPr>
      </p:sp>
      <p:sp>
        <p:nvSpPr>
          <p:cNvPr id="23" name="Shape 18"/>
          <p:cNvSpPr/>
          <p:nvPr/>
        </p:nvSpPr>
        <p:spPr>
          <a:xfrm>
            <a:off x="1243584" y="5404104"/>
            <a:ext cx="502920" cy="50292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964" y="5469484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965960" y="5285232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: fongicide (chlorothalonil) + retirer les feuilles infectées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046720" y="1325880"/>
            <a:ext cx="3596335" cy="960120"/>
          </a:xfrm>
          <a:prstGeom prst="roundRect">
            <a:avLst>
              <a:gd name="adj" fmla="val 9524"/>
            </a:avLst>
          </a:prstGeom>
          <a:solidFill>
            <a:srgbClr val="215C3E"/>
          </a:solidFill>
          <a:ln/>
        </p:spPr>
      </p:sp>
      <p:sp>
        <p:nvSpPr>
          <p:cNvPr id="27" name="Shape 21"/>
          <p:cNvSpPr/>
          <p:nvPr/>
        </p:nvSpPr>
        <p:spPr>
          <a:xfrm>
            <a:off x="8229600" y="150876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67" y="1586027"/>
            <a:ext cx="439826" cy="43982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961120" y="132588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46720" y="2514600"/>
            <a:ext cx="3596335" cy="960120"/>
          </a:xfrm>
          <a:prstGeom prst="roundRect">
            <a:avLst>
              <a:gd name="adj" fmla="val 9524"/>
            </a:avLst>
          </a:prstGeom>
          <a:solidFill>
            <a:srgbClr val="215C3E"/>
          </a:solidFill>
          <a:ln/>
        </p:spPr>
      </p:sp>
      <p:sp>
        <p:nvSpPr>
          <p:cNvPr id="31" name="Shape 24"/>
          <p:cNvSpPr/>
          <p:nvPr/>
        </p:nvSpPr>
        <p:spPr>
          <a:xfrm>
            <a:off x="8229600" y="269748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67" y="2774747"/>
            <a:ext cx="439826" cy="4398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251460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CNN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046720" y="3703320"/>
            <a:ext cx="3596335" cy="960120"/>
          </a:xfrm>
          <a:prstGeom prst="roundRect">
            <a:avLst>
              <a:gd name="adj" fmla="val 9524"/>
            </a:avLst>
          </a:prstGeom>
          <a:solidFill>
            <a:srgbClr val="215C3E"/>
          </a:solidFill>
          <a:ln/>
        </p:spPr>
      </p:sp>
      <p:sp>
        <p:nvSpPr>
          <p:cNvPr id="35" name="Shape 27"/>
          <p:cNvSpPr/>
          <p:nvPr/>
        </p:nvSpPr>
        <p:spPr>
          <a:xfrm>
            <a:off x="8229600" y="388620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67" y="3963467"/>
            <a:ext cx="439826" cy="43982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61120" y="370332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8046720" y="4892040"/>
            <a:ext cx="3596335" cy="960120"/>
          </a:xfrm>
          <a:prstGeom prst="roundRect">
            <a:avLst>
              <a:gd name="adj" fmla="val 9524"/>
            </a:avLst>
          </a:prstGeom>
          <a:solidFill>
            <a:srgbClr val="215C3E"/>
          </a:solidFill>
          <a:ln/>
        </p:spPr>
      </p:sp>
      <p:sp>
        <p:nvSpPr>
          <p:cNvPr id="39" name="Shape 30"/>
          <p:cNvSpPr/>
          <p:nvPr/>
        </p:nvSpPr>
        <p:spPr>
          <a:xfrm>
            <a:off x="8229600" y="507492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67" y="5152187"/>
            <a:ext cx="439826" cy="43982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961120" y="4892040"/>
            <a:ext cx="2103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✅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JDP&amp; </a:t>
            </a: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Exécution du projet — étape par étape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0" cy="292608"/>
          </a:xfrm>
          <a:prstGeom prst="line">
            <a:avLst/>
          </a:prstGeom>
          <a:noFill/>
          <a:ln w="25400">
            <a:solidFill>
              <a:srgbClr val="8FCB9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le ZIP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Décompresser le projet sur la machine locale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548640" cy="54864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944368"/>
            <a:ext cx="0" cy="292608"/>
          </a:xfrm>
          <a:prstGeom prst="line">
            <a:avLst/>
          </a:prstGeom>
          <a:noFill/>
          <a:ln w="25400">
            <a:solidFill>
              <a:srgbClr val="8FCB9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37160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les dépendances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71600" y="2761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tensorflow streamlit pillow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36976"/>
            <a:ext cx="548640" cy="54864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369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3785616"/>
            <a:ext cx="0" cy="292608"/>
          </a:xfrm>
          <a:prstGeom prst="line">
            <a:avLst/>
          </a:prstGeom>
          <a:noFill/>
          <a:ln w="25400">
            <a:solidFill>
              <a:srgbClr val="8FCB9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371600" y="32186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dataset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371600" y="360273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depuis Kaggle, organiser en dataset/train et dataset/val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78224"/>
            <a:ext cx="548640" cy="54864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4626864"/>
            <a:ext cx="0" cy="292608"/>
          </a:xfrm>
          <a:prstGeom prst="line">
            <a:avLst/>
          </a:prstGeom>
          <a:noFill/>
          <a:ln w="25400">
            <a:solidFill>
              <a:srgbClr val="8FCB9B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371600" y="40599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le modèle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71600" y="44439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train_model.py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19472"/>
            <a:ext cx="548640" cy="548640"/>
          </a:xfrm>
          <a:prstGeom prst="ellipse">
            <a:avLst/>
          </a:prstGeom>
          <a:solidFill>
            <a:srgbClr val="1B5E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919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71600" y="49011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9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l'application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52852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5E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4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B5E3A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11535" cy="1188720"/>
          </a:xfrm>
          <a:prstGeom prst="roundRect">
            <a:avLst>
              <a:gd name="adj" fmla="val 7692"/>
            </a:avLst>
          </a:prstGeom>
          <a:solidFill>
            <a:srgbClr val="1B5E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00200"/>
            <a:ext cx="731520" cy="731520"/>
          </a:xfrm>
          <a:prstGeom prst="ellipse">
            <a:avLst/>
          </a:prstGeom>
          <a:solidFill>
            <a:srgbClr val="0B3D2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169529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5087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application complète : upload → diagnostic CNN → score de confiance → traitement recommandé, accessible via une interface Streamlit simple.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CB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d'amélioration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3423818" cy="2011680"/>
          </a:xfrm>
          <a:prstGeom prst="roundRect">
            <a:avLst>
              <a:gd name="adj" fmla="val 4545"/>
            </a:avLst>
          </a:prstGeom>
          <a:solidFill>
            <a:srgbClr val="215C3E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61188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7" y="368914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2976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enrichie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68680" y="46634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moderne avec cartes, couleurs et graphiques de confiance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83938" y="3383280"/>
            <a:ext cx="3423818" cy="2011680"/>
          </a:xfrm>
          <a:prstGeom prst="roundRect">
            <a:avLst>
              <a:gd name="adj" fmla="val 4545"/>
            </a:avLst>
          </a:prstGeom>
          <a:solidFill>
            <a:srgbClr val="215C3E"/>
          </a:solidFill>
          <a:ln/>
        </p:spPr>
      </p:sp>
      <p:sp>
        <p:nvSpPr>
          <p:cNvPr id="15" name="Shape 11"/>
          <p:cNvSpPr/>
          <p:nvPr/>
        </p:nvSpPr>
        <p:spPr>
          <a:xfrm>
            <a:off x="4612538" y="361188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805" y="368914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12538" y="42976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élargie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612538" y="46634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Davantage de maladies et de cultures dans la base de traitements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127797" y="3383280"/>
            <a:ext cx="3423818" cy="2011680"/>
          </a:xfrm>
          <a:prstGeom prst="roundRect">
            <a:avLst>
              <a:gd name="adj" fmla="val 4545"/>
            </a:avLst>
          </a:prstGeom>
          <a:solidFill>
            <a:srgbClr val="215C3E"/>
          </a:solidFill>
          <a:ln/>
        </p:spPr>
      </p:sp>
      <p:sp>
        <p:nvSpPr>
          <p:cNvPr id="20" name="Shape 15"/>
          <p:cNvSpPr/>
          <p:nvPr/>
        </p:nvSpPr>
        <p:spPr>
          <a:xfrm>
            <a:off x="8356397" y="3611880"/>
            <a:ext cx="594360" cy="594360"/>
          </a:xfrm>
          <a:prstGeom prst="ellipse">
            <a:avLst/>
          </a:prstGeom>
          <a:solidFill>
            <a:srgbClr val="1B5E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664" y="368914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356397" y="4297680"/>
            <a:ext cx="29666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modèles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356397" y="4663440"/>
            <a:ext cx="29666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CNN vs YOLO pour la détection et la localisation des lésions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806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smtClean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JDP </a:t>
            </a:r>
            <a:r>
              <a:rPr lang="en-US" sz="1000" dirty="0">
                <a:solidFill>
                  <a:srgbClr val="BF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CNN — Détection de Maladies des Plantes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915</Words>
  <Application>Microsoft Office PowerPoint</Application>
  <PresentationFormat>Grand écran</PresentationFormat>
  <Paragraphs>177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des Maladies des Plantes par CNN</dc:title>
  <dc:subject>PptxGenJS Presentation</dc:subject>
  <dc:creator>Chaimaa</dc:creator>
  <cp:lastModifiedBy>souhaila</cp:lastModifiedBy>
  <cp:revision>5</cp:revision>
  <dcterms:created xsi:type="dcterms:W3CDTF">2026-06-30T22:02:06Z</dcterms:created>
  <dcterms:modified xsi:type="dcterms:W3CDTF">2026-07-02T17:17:58Z</dcterms:modified>
</cp:coreProperties>
</file>